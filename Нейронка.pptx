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2043B-3383-D521-19DE-29F97A6A6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FF5EDB-4B01-6DBD-BB9D-EF24F4213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561E42-82E7-8F3F-4CA5-9B3307A5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5479-AB4F-4477-97B4-9F1EE6F5FD24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8DEAC1-65E8-CF00-AA2D-2A83A2BD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6438EA-6BBA-B05B-13AE-39B56194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5903-B8A8-421C-8223-E4B41CA9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708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E449FF-5795-E753-3419-61E003D9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916A09-B0BD-6C91-3BF5-F5C2462E0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504D8D-DDA0-B15E-66A5-2C3C389D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5479-AB4F-4477-97B4-9F1EE6F5FD24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EAC811-1493-29C3-82B1-3BA16ECA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B66A36-5332-065C-6566-70239B9F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5903-B8A8-421C-8223-E4B41CA9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822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612204-A4BE-F609-D4A3-821A750B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9F6E86-4223-D1B2-28AF-4A078C5A6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BF6183-2D34-A805-ADD7-A51A2112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5479-AB4F-4477-97B4-9F1EE6F5FD24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11AF07-9632-72F2-69DC-55154304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5D815C-7266-C7AD-CAA9-3128E351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5903-B8A8-421C-8223-E4B41CA9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561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2F4D9-541A-849F-1BEE-17A2B7D6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43A527-6974-3213-B367-91E07AA47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1D91BB-EF51-7F80-8AB4-31AC768F3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BFC3BE-3AF9-9D7A-9860-B19F0141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5479-AB4F-4477-97B4-9F1EE6F5FD24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9E2467-5C22-4F09-CAC1-336B58B4C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74B265-C76E-9DB2-FA48-98E1B52F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5903-B8A8-421C-8223-E4B41CA9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80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DF385B-65A0-9962-8688-B728F81F8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34771E-C252-5A71-A8CB-DC03B016D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C96AFA-7F13-9A7E-832B-62B1C57A8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DC28E1A-B09E-75AD-9735-DE2D4F432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1DD39A-FD48-920D-8EEA-2A1594E1A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82E3D9F-125F-3E98-B516-107443FA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5479-AB4F-4477-97B4-9F1EE6F5FD24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2C5EC44-5981-244A-7C5A-B9CB29DE4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A77A00-C886-94FC-E72E-7C2DB9A3C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5903-B8A8-421C-8223-E4B41CA9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04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A9A9D-09FD-43D2-2A09-28D738E72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2947AC-E938-6396-F542-B93F81FCF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5479-AB4F-4477-97B4-9F1EE6F5FD24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388D016-8DFF-8D39-33FA-C5DAF6C6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284032-68B3-7CA9-0257-C08E78EF4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5903-B8A8-421C-8223-E4B41CA9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61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ACAA53-0414-FFD9-F1F1-9AB643DBD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5479-AB4F-4477-97B4-9F1EE6F5FD24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6EA0DAA-3CC3-F5D6-77B0-8C8E744BC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477014-0579-8EF9-4EF1-8C85CEB9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5903-B8A8-421C-8223-E4B41CA9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257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77E43B-CA7C-8E43-2B09-A5B8F324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94FEA6-5B58-3CD8-BC05-9B933F6C7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CE438F-7BB1-2574-B4D0-CB2FBAA04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C20592-549D-7E2F-D7E9-FEC58CDF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5479-AB4F-4477-97B4-9F1EE6F5FD24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04C857-8412-2981-D8D6-2A57C7E6D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BE5F19-5CBF-F9CB-8AC2-CA5C2ED84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5903-B8A8-421C-8223-E4B41CA9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041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3D0DF-4D00-5849-AB52-417048B2A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4524197-257C-2E6C-3F8F-A1DA5A775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AB4838-DA6A-3D9D-8FC0-EF4EEC6D3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81EAEF-A34D-58EF-EEE3-AF15782C0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5479-AB4F-4477-97B4-9F1EE6F5FD24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54E094-63D3-C42D-E29F-90A761F47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D88370-2EF4-5075-CF90-6990D7EB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5903-B8A8-421C-8223-E4B41CA9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403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91602E-5090-5CC9-9C34-1AE2342E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B3CABA-D794-30A3-EE8B-048BD50BD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66AD1F-609A-4DD1-7B0F-86376A3B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5479-AB4F-4477-97B4-9F1EE6F5FD24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38A830-F9DC-CA00-84E6-C958B00E6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F29F62-EBE7-720C-466B-F746C5A6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5903-B8A8-421C-8223-E4B41CA9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70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8A1F437-6889-F261-E74E-1CF51CB346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99FA8E-FCBF-5CC9-8A73-EEE5F2B6F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A91EC3-03C8-B6F9-010F-5A8070BEB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5479-AB4F-4477-97B4-9F1EE6F5FD24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AB44DB-F1E3-8DAA-9435-151D1C51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1C7831-24AB-21C1-257C-00937182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5903-B8A8-421C-8223-E4B41CA9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33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C5AA0-3C57-8DC4-6C64-0E3825973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4552D6-A279-3CB7-294B-AF406136E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F0AF25-D137-638C-55A5-9C1F0A82F6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45479-AB4F-4477-97B4-9F1EE6F5FD24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4ABDDF-DBD2-0D4E-AE0C-DA9A64584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285038-0B7F-D13A-F512-2BF1E9172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F5903-B8A8-421C-8223-E4B41CA9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177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ct-germ/datastuctures/blob/main/%D0%93%D0%B5%D1%80%D0%BC%D0%B0%D0%BD_%D0%92%D0%B8%D0%BA%D1%82%D0%BE%D1%80%D0%B8%D1%8F_%D0%9D%D1%83%D0%B3%D1%83%D0%BC%D0%B0%D0%BD%D0%BE%D0%B2%D0%B0_%D0%90%D0%BB%D0%B8%D1%8F_%D0%9F%D0%9803.ipynb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5C3253-9464-C623-D726-97D326899129}"/>
              </a:ext>
            </a:extLst>
          </p:cNvPr>
          <p:cNvSpPr txBox="1"/>
          <p:nvPr/>
        </p:nvSpPr>
        <p:spPr>
          <a:xfrm>
            <a:off x="1891862" y="932760"/>
            <a:ext cx="9059917" cy="467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3200" b="1" kern="1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реккурентной нейронной сети на базе фреймворка TensorFlow Python для прогнозирования месячного числа солнечных пятен (Sunspot Number) на основе исторических данных с 1749 по 2018 гг.</a:t>
            </a:r>
            <a:endParaRPr lang="ru-RU" sz="3200" kern="10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3200" b="1" kern="1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3200" kern="10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400" b="1" kern="1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Выполнили:</a:t>
            </a:r>
            <a:endParaRPr lang="ru-RU" sz="1400" kern="10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400" b="1" kern="1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Студенты 1 курса группы ПИ03</a:t>
            </a:r>
            <a:endParaRPr lang="ru-RU" sz="1400" kern="10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400" b="1" kern="1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Герман Виктория</a:t>
            </a:r>
            <a:endParaRPr lang="ru-RU" sz="1400" kern="10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400" b="1" kern="1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Нугуманова Алия</a:t>
            </a:r>
            <a:endParaRPr lang="ru-RU" sz="1400" kern="10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9C68D-21B4-827B-7B9A-A3947F524864}"/>
              </a:ext>
            </a:extLst>
          </p:cNvPr>
          <p:cNvSpPr txBox="1"/>
          <p:nvPr/>
        </p:nvSpPr>
        <p:spPr>
          <a:xfrm>
            <a:off x="5102772" y="6190593"/>
            <a:ext cx="198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>
                <a:solidFill>
                  <a:schemeClr val="bg1"/>
                </a:solidFill>
              </a:rPr>
              <a:t>Москва - 2025</a:t>
            </a:r>
          </a:p>
        </p:txBody>
      </p:sp>
    </p:spTree>
    <p:extLst>
      <p:ext uri="{BB962C8B-B14F-4D97-AF65-F5344CB8AC3E}">
        <p14:creationId xmlns:p14="http://schemas.microsoft.com/office/powerpoint/2010/main" val="580419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1BDD204-C789-3506-03D7-614CF017D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727" y="3352800"/>
            <a:ext cx="3529888" cy="3611823"/>
          </a:xfrm>
          <a:prstGeom prst="rect">
            <a:avLst/>
          </a:prstGeom>
          <a:noFill/>
          <a:effectLst>
            <a:glow rad="469900">
              <a:srgbClr val="FFFF00">
                <a:alpha val="38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C84CED-1C38-3E33-9CBD-550B1AFF7193}"/>
              </a:ext>
            </a:extLst>
          </p:cNvPr>
          <p:cNvSpPr txBox="1"/>
          <p:nvPr/>
        </p:nvSpPr>
        <p:spPr>
          <a:xfrm>
            <a:off x="1095153" y="435935"/>
            <a:ext cx="81126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>
                <a:solidFill>
                  <a:schemeClr val="bg1"/>
                </a:solidFill>
              </a:rPr>
              <a:t>Актуальность выбранной нейросети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E8558-A293-C617-E332-B90FA42C8D65}"/>
              </a:ext>
            </a:extLst>
          </p:cNvPr>
          <p:cNvSpPr txBox="1"/>
          <p:nvPr/>
        </p:nvSpPr>
        <p:spPr>
          <a:xfrm>
            <a:off x="1095153" y="2281246"/>
            <a:ext cx="57947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solidFill>
                  <a:schemeClr val="bg1"/>
                </a:solidFill>
              </a:rPr>
              <a:t>Число солнечных пятен является базовым индикатором солнечной активности и фазы 11‑летнего цикла, от которого зависят вспышки, корональные выбросы и в целом «климат» космической погоды.​</a:t>
            </a:r>
          </a:p>
          <a:p>
            <a:r>
              <a:rPr lang="ru-RU">
                <a:solidFill>
                  <a:schemeClr val="bg1"/>
                </a:solidFill>
              </a:rPr>
              <a:t>Точные прогнозы солнечной активности </a:t>
            </a:r>
            <a:r>
              <a:rPr lang="ru-RU" u="sng">
                <a:solidFill>
                  <a:schemeClr val="bg1"/>
                </a:solidFill>
              </a:rPr>
              <a:t>нужны для оценки рисков для спутников, навигационных систем, радиосвязи, а также для планирования космических миссий и управления энергосистемами на Земле</a:t>
            </a:r>
          </a:p>
          <a:p>
            <a:endParaRPr lang="ru-RU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9D157354-D161-D62D-0B16-FF36398EC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481" y="1156910"/>
            <a:ext cx="848686" cy="848686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Picture background">
            <a:extLst>
              <a:ext uri="{FF2B5EF4-FFF2-40B4-BE49-F238E27FC236}">
                <a16:creationId xmlns:a16="http://schemas.microsoft.com/office/drawing/2014/main" id="{6CBA5D03-B748-8EE2-08C9-5207DD45E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8025" y="2557936"/>
            <a:ext cx="424343" cy="424343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ture background">
            <a:extLst>
              <a:ext uri="{FF2B5EF4-FFF2-40B4-BE49-F238E27FC236}">
                <a16:creationId xmlns:a16="http://schemas.microsoft.com/office/drawing/2014/main" id="{F3F24C3A-3FDC-2CB6-9267-7DA897DE3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795" y="3004657"/>
            <a:ext cx="610413" cy="610413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C2ACF5-50A7-0AC1-8ED4-AF716CD1D358}"/>
              </a:ext>
            </a:extLst>
          </p:cNvPr>
          <p:cNvSpPr txBox="1"/>
          <p:nvPr/>
        </p:nvSpPr>
        <p:spPr>
          <a:xfrm>
            <a:off x="1095153" y="5016221"/>
            <a:ext cx="5954233" cy="1203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solidFill>
                  <a:schemeClr val="bg1"/>
                </a:solidFill>
              </a:rPr>
              <a:t>Модель работает на историческом ряде с 1749 года, что позволяет использовать весь накопленный опыт наблюдений и строить прогнозы, согласующиеся с официальными оценками (NOAA, NASA, ESA).</a:t>
            </a:r>
          </a:p>
        </p:txBody>
      </p:sp>
    </p:spTree>
    <p:extLst>
      <p:ext uri="{BB962C8B-B14F-4D97-AF65-F5344CB8AC3E}">
        <p14:creationId xmlns:p14="http://schemas.microsoft.com/office/powerpoint/2010/main" val="18164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3C6DB2-F69B-C33A-B156-2762A63FDBF5}"/>
              </a:ext>
            </a:extLst>
          </p:cNvPr>
          <p:cNvSpPr txBox="1"/>
          <p:nvPr/>
        </p:nvSpPr>
        <p:spPr>
          <a:xfrm>
            <a:off x="683174" y="1688214"/>
            <a:ext cx="60434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>
                <a:solidFill>
                  <a:schemeClr val="bg1"/>
                </a:solidFill>
              </a:rPr>
              <a:t>Сколько слоёв</a:t>
            </a:r>
          </a:p>
          <a:p>
            <a:r>
              <a:rPr lang="ru-RU" sz="1400">
                <a:solidFill>
                  <a:schemeClr val="bg1"/>
                </a:solidFill>
              </a:rPr>
              <a:t>Функция </a:t>
            </a:r>
            <a:r>
              <a:rPr lang="en-US" sz="1400">
                <a:solidFill>
                  <a:schemeClr val="bg1"/>
                </a:solidFill>
              </a:rPr>
              <a:t>build_rnn_model </a:t>
            </a:r>
            <a:r>
              <a:rPr lang="ru-RU" sz="1400">
                <a:solidFill>
                  <a:schemeClr val="bg1"/>
                </a:solidFill>
              </a:rPr>
              <a:t>при </a:t>
            </a:r>
            <a:r>
              <a:rPr lang="en-US" sz="1400">
                <a:solidFill>
                  <a:schemeClr val="bg1"/>
                </a:solidFill>
              </a:rPr>
              <a:t>model_type="lstm" </a:t>
            </a:r>
            <a:r>
              <a:rPr lang="ru-RU" sz="1400">
                <a:solidFill>
                  <a:schemeClr val="bg1"/>
                </a:solidFill>
              </a:rPr>
              <a:t>и </a:t>
            </a:r>
            <a:r>
              <a:rPr lang="en-US" sz="1400">
                <a:solidFill>
                  <a:schemeClr val="bg1"/>
                </a:solidFill>
              </a:rPr>
              <a:t>rnn_layers=1 </a:t>
            </a:r>
            <a:r>
              <a:rPr lang="ru-RU" sz="1400">
                <a:solidFill>
                  <a:schemeClr val="bg1"/>
                </a:solidFill>
              </a:rPr>
              <a:t>создаёт: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Входной </a:t>
            </a:r>
            <a:r>
              <a:rPr lang="en-US" sz="1400">
                <a:solidFill>
                  <a:schemeClr val="bg1"/>
                </a:solidFill>
              </a:rPr>
              <a:t>LSTM‑</a:t>
            </a:r>
            <a:r>
              <a:rPr lang="ru-RU" sz="1400">
                <a:solidFill>
                  <a:schemeClr val="bg1"/>
                </a:solidFill>
              </a:rPr>
              <a:t>слой:</a:t>
            </a:r>
            <a:br>
              <a:rPr lang="ru-RU" sz="1400">
                <a:solidFill>
                  <a:schemeClr val="bg1"/>
                </a:solidFill>
              </a:rPr>
            </a:br>
            <a:r>
              <a:rPr lang="en-US" sz="1400">
                <a:solidFill>
                  <a:schemeClr val="bg1"/>
                </a:solidFill>
              </a:rPr>
              <a:t>layers.LSTM(rnn_units, 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Полносвязный (</a:t>
            </a:r>
            <a:r>
              <a:rPr lang="en-US" sz="1400">
                <a:solidFill>
                  <a:schemeClr val="bg1"/>
                </a:solidFill>
              </a:rPr>
              <a:t>Dense) </a:t>
            </a:r>
            <a:r>
              <a:rPr lang="ru-RU" sz="1400">
                <a:solidFill>
                  <a:schemeClr val="bg1"/>
                </a:solidFill>
              </a:rPr>
              <a:t>скрытый слой:</a:t>
            </a:r>
            <a:br>
              <a:rPr lang="ru-RU" sz="1400">
                <a:solidFill>
                  <a:schemeClr val="bg1"/>
                </a:solidFill>
              </a:rPr>
            </a:br>
            <a:r>
              <a:rPr lang="en-US" sz="1400">
                <a:solidFill>
                  <a:schemeClr val="bg1"/>
                </a:solidFill>
              </a:rPr>
              <a:t>layers.Dense(dense_units, activation="relu")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Выходной </a:t>
            </a:r>
            <a:r>
              <a:rPr lang="en-US" sz="1400">
                <a:solidFill>
                  <a:schemeClr val="bg1"/>
                </a:solidFill>
              </a:rPr>
              <a:t>Dense‑</a:t>
            </a:r>
            <a:r>
              <a:rPr lang="ru-RU" sz="1400">
                <a:solidFill>
                  <a:schemeClr val="bg1"/>
                </a:solidFill>
              </a:rPr>
              <a:t>слой на 1 нейрон:</a:t>
            </a:r>
            <a:br>
              <a:rPr lang="ru-RU" sz="1400">
                <a:solidFill>
                  <a:schemeClr val="bg1"/>
                </a:solidFill>
              </a:rPr>
            </a:br>
            <a:r>
              <a:rPr lang="en-US" sz="1400">
                <a:solidFill>
                  <a:schemeClr val="bg1"/>
                </a:solidFill>
              </a:rPr>
              <a:t>layers.Dense(1)</a:t>
            </a:r>
          </a:p>
          <a:p>
            <a:r>
              <a:rPr lang="ru-RU" sz="1400">
                <a:solidFill>
                  <a:schemeClr val="bg1"/>
                </a:solidFill>
              </a:rPr>
              <a:t>Итого в используемой конфигурации — 3 слоя (1 рекуррентный + 2 полносвязных).</a:t>
            </a:r>
          </a:p>
          <a:p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B40FC9-A0F5-4C6F-61E4-A1030F8A97F4}"/>
              </a:ext>
            </a:extLst>
          </p:cNvPr>
          <p:cNvSpPr txBox="1"/>
          <p:nvPr/>
        </p:nvSpPr>
        <p:spPr>
          <a:xfrm>
            <a:off x="6936829" y="1688214"/>
            <a:ext cx="497139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>
                <a:solidFill>
                  <a:schemeClr val="bg1"/>
                </a:solidFill>
              </a:rPr>
              <a:t>Сколько нейронов в слоях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LSTM‑</a:t>
            </a:r>
            <a:r>
              <a:rPr lang="ru-RU" sz="1400">
                <a:solidFill>
                  <a:schemeClr val="bg1"/>
                </a:solidFill>
              </a:rPr>
              <a:t>слой: </a:t>
            </a:r>
            <a:r>
              <a:rPr lang="en-US" sz="1400">
                <a:solidFill>
                  <a:schemeClr val="bg1"/>
                </a:solidFill>
              </a:rPr>
              <a:t>rnn_units=64 → 64 </a:t>
            </a:r>
            <a:r>
              <a:rPr lang="ru-RU" sz="1400">
                <a:solidFill>
                  <a:schemeClr val="bg1"/>
                </a:solidFill>
              </a:rPr>
              <a:t>памяти/нейрона в </a:t>
            </a:r>
            <a:r>
              <a:rPr lang="en-US" sz="1400">
                <a:solidFill>
                  <a:schemeClr val="bg1"/>
                </a:solidFill>
              </a:rPr>
              <a:t>LSTM‑</a:t>
            </a:r>
            <a:r>
              <a:rPr lang="ru-RU" sz="1400">
                <a:solidFill>
                  <a:schemeClr val="bg1"/>
                </a:solidFill>
              </a:rPr>
              <a:t>слое.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Скрытый </a:t>
            </a:r>
            <a:r>
              <a:rPr lang="en-US" sz="1400">
                <a:solidFill>
                  <a:schemeClr val="bg1"/>
                </a:solidFill>
              </a:rPr>
              <a:t>Dense‑</a:t>
            </a:r>
            <a:r>
              <a:rPr lang="ru-RU" sz="1400">
                <a:solidFill>
                  <a:schemeClr val="bg1"/>
                </a:solidFill>
              </a:rPr>
              <a:t>слой: </a:t>
            </a:r>
            <a:r>
              <a:rPr lang="en-US" sz="1400">
                <a:solidFill>
                  <a:schemeClr val="bg1"/>
                </a:solidFill>
              </a:rPr>
              <a:t>dense_units=32 → 32 </a:t>
            </a:r>
            <a:r>
              <a:rPr lang="ru-RU" sz="1400">
                <a:solidFill>
                  <a:schemeClr val="bg1"/>
                </a:solidFill>
              </a:rPr>
              <a:t>нейрона.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Выходной </a:t>
            </a:r>
            <a:r>
              <a:rPr lang="en-US" sz="1400">
                <a:solidFill>
                  <a:schemeClr val="bg1"/>
                </a:solidFill>
              </a:rPr>
              <a:t>Dense‑</a:t>
            </a:r>
            <a:r>
              <a:rPr lang="ru-RU" sz="1400">
                <a:solidFill>
                  <a:schemeClr val="bg1"/>
                </a:solidFill>
              </a:rPr>
              <a:t>слой: 1 нейрон (скалярный прогноз месячного </a:t>
            </a:r>
            <a:r>
              <a:rPr lang="en-US" sz="1400">
                <a:solidFill>
                  <a:schemeClr val="bg1"/>
                </a:solidFill>
              </a:rPr>
              <a:t>Sunspot Number).</a:t>
            </a:r>
          </a:p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D3273-A578-91BF-7EBF-6023D529E4FE}"/>
              </a:ext>
            </a:extLst>
          </p:cNvPr>
          <p:cNvSpPr txBox="1"/>
          <p:nvPr/>
        </p:nvSpPr>
        <p:spPr>
          <a:xfrm>
            <a:off x="683174" y="4418389"/>
            <a:ext cx="462455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>
                <a:solidFill>
                  <a:schemeClr val="bg1"/>
                </a:solidFill>
              </a:rPr>
              <a:t>Какая сеть из </a:t>
            </a:r>
            <a:r>
              <a:rPr lang="en-US" b="1">
                <a:solidFill>
                  <a:schemeClr val="bg1"/>
                </a:solidFill>
              </a:rPr>
              <a:t>Keras/TensorFlow </a:t>
            </a:r>
            <a:r>
              <a:rPr lang="ru-RU" b="1">
                <a:solidFill>
                  <a:schemeClr val="bg1"/>
                </a:solidFill>
              </a:rPr>
              <a:t>выбрана</a:t>
            </a:r>
          </a:p>
          <a:p>
            <a:r>
              <a:rPr lang="ru-RU" sz="1400">
                <a:solidFill>
                  <a:schemeClr val="bg1"/>
                </a:solidFill>
              </a:rPr>
              <a:t>Параметр </a:t>
            </a:r>
            <a:r>
              <a:rPr lang="en-US" sz="1400">
                <a:solidFill>
                  <a:schemeClr val="bg1"/>
                </a:solidFill>
              </a:rPr>
              <a:t>model_type="lstm" </a:t>
            </a:r>
            <a:r>
              <a:rPr lang="ru-RU" sz="1400">
                <a:solidFill>
                  <a:schemeClr val="bg1"/>
                </a:solidFill>
              </a:rPr>
              <a:t>выбирает ветку:</a:t>
            </a:r>
          </a:p>
          <a:p>
            <a:r>
              <a:rPr lang="en-US" sz="1400">
                <a:solidFill>
                  <a:schemeClr val="bg1"/>
                </a:solidFill>
              </a:rPr>
              <a:t>python</a:t>
            </a:r>
          </a:p>
          <a:p>
            <a:r>
              <a:rPr lang="en-US" sz="1400">
                <a:solidFill>
                  <a:schemeClr val="bg1"/>
                </a:solidFill>
              </a:rPr>
              <a:t>x = layers.LSTM(rnn_units, ...)(x)</a:t>
            </a:r>
          </a:p>
          <a:p>
            <a:r>
              <a:rPr lang="ru-RU" sz="1400">
                <a:solidFill>
                  <a:schemeClr val="bg1"/>
                </a:solidFill>
              </a:rPr>
              <a:t>То есть используется </a:t>
            </a:r>
            <a:r>
              <a:rPr lang="en-US" sz="1400">
                <a:solidFill>
                  <a:schemeClr val="bg1"/>
                </a:solidFill>
              </a:rPr>
              <a:t>LSTM‑</a:t>
            </a:r>
            <a:r>
              <a:rPr lang="ru-RU" sz="1400">
                <a:solidFill>
                  <a:schemeClr val="bg1"/>
                </a:solidFill>
              </a:rPr>
              <a:t>сеть на базе </a:t>
            </a:r>
            <a:r>
              <a:rPr lang="en-US" sz="1400">
                <a:solidFill>
                  <a:schemeClr val="bg1"/>
                </a:solidFill>
              </a:rPr>
              <a:t>tf.keras.layers.LSTM </a:t>
            </a:r>
            <a:r>
              <a:rPr lang="ru-RU" sz="1400">
                <a:solidFill>
                  <a:schemeClr val="bg1"/>
                </a:solidFill>
              </a:rPr>
              <a:t>из </a:t>
            </a:r>
            <a:r>
              <a:rPr lang="en-US" sz="1400">
                <a:solidFill>
                  <a:schemeClr val="bg1"/>
                </a:solidFill>
              </a:rPr>
              <a:t>Keras/TensorFlow, </a:t>
            </a:r>
            <a:r>
              <a:rPr lang="ru-RU" sz="1400">
                <a:solidFill>
                  <a:schemeClr val="bg1"/>
                </a:solidFill>
              </a:rPr>
              <a:t>с последующим полносвязным блоком (</a:t>
            </a:r>
            <a:r>
              <a:rPr lang="en-US" sz="1400">
                <a:solidFill>
                  <a:schemeClr val="bg1"/>
                </a:solidFill>
              </a:rPr>
              <a:t>tf.keras.layers.Dense).</a:t>
            </a:r>
          </a:p>
          <a:p>
            <a:endParaRPr lang="ru-RU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4FC76-01C6-076C-14D6-1CB8118BEAFB}"/>
              </a:ext>
            </a:extLst>
          </p:cNvPr>
          <p:cNvSpPr txBox="1"/>
          <p:nvPr/>
        </p:nvSpPr>
        <p:spPr>
          <a:xfrm>
            <a:off x="788276" y="525518"/>
            <a:ext cx="40780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>
                <a:solidFill>
                  <a:schemeClr val="bg1"/>
                </a:solidFill>
              </a:rPr>
              <a:t>Архитектура</a:t>
            </a:r>
            <a:r>
              <a:rPr lang="ru-RU" sz="4400" b="1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6" name="Picture 4" descr="Picture background">
            <a:extLst>
              <a:ext uri="{FF2B5EF4-FFF2-40B4-BE49-F238E27FC236}">
                <a16:creationId xmlns:a16="http://schemas.microsoft.com/office/drawing/2014/main" id="{C4D1F822-DA20-7BAC-C70E-7653D2A93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937" y="54845"/>
            <a:ext cx="551789" cy="551789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Picture background">
            <a:extLst>
              <a:ext uri="{FF2B5EF4-FFF2-40B4-BE49-F238E27FC236}">
                <a16:creationId xmlns:a16="http://schemas.microsoft.com/office/drawing/2014/main" id="{5591BC5C-6757-D3EE-EB7E-C9E178ABF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726" y="3926696"/>
            <a:ext cx="399391" cy="399391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icture background">
            <a:extLst>
              <a:ext uri="{FF2B5EF4-FFF2-40B4-BE49-F238E27FC236}">
                <a16:creationId xmlns:a16="http://schemas.microsoft.com/office/drawing/2014/main" id="{229AF186-A3E1-B126-604A-CB6EE5442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1078" y="1828671"/>
            <a:ext cx="399391" cy="399391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84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21DE91-562B-5785-4A88-66994D87CEB7}"/>
              </a:ext>
            </a:extLst>
          </p:cNvPr>
          <p:cNvSpPr txBox="1"/>
          <p:nvPr/>
        </p:nvSpPr>
        <p:spPr>
          <a:xfrm>
            <a:off x="483475" y="1555531"/>
            <a:ext cx="652338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>
                <a:solidFill>
                  <a:schemeClr val="bg1"/>
                </a:solidFill>
              </a:rPr>
              <a:t>Функции активации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LSTM‑</a:t>
            </a:r>
            <a:r>
              <a:rPr lang="ru-RU" sz="1400">
                <a:solidFill>
                  <a:schemeClr val="bg1"/>
                </a:solidFill>
              </a:rPr>
              <a:t>слой:</a:t>
            </a:r>
            <a:br>
              <a:rPr lang="ru-RU" sz="1400">
                <a:solidFill>
                  <a:schemeClr val="bg1"/>
                </a:solidFill>
              </a:rPr>
            </a:br>
            <a:r>
              <a:rPr lang="ru-RU" sz="1400">
                <a:solidFill>
                  <a:schemeClr val="bg1"/>
                </a:solidFill>
              </a:rPr>
              <a:t>В коде активация не указана, поэтому используется стандартная конфигурация </a:t>
            </a:r>
            <a:r>
              <a:rPr lang="en-US" sz="1400">
                <a:solidFill>
                  <a:schemeClr val="bg1"/>
                </a:solidFill>
              </a:rPr>
              <a:t>tf.keras.layers.LSTM, </a:t>
            </a:r>
            <a:r>
              <a:rPr lang="ru-RU" sz="1400">
                <a:solidFill>
                  <a:schemeClr val="bg1"/>
                </a:solidFill>
              </a:rPr>
              <a:t>где: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основная активация — </a:t>
            </a:r>
            <a:r>
              <a:rPr lang="en-US" sz="1400">
                <a:solidFill>
                  <a:schemeClr val="bg1"/>
                </a:solidFill>
              </a:rPr>
              <a:t>tanh </a:t>
            </a:r>
            <a:r>
              <a:rPr lang="ru-RU" sz="1400">
                <a:solidFill>
                  <a:schemeClr val="bg1"/>
                </a:solidFill>
              </a:rPr>
              <a:t>для выходного состояния;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активации затворов — сигмоида.​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Скрытый полносвязный слой:</a:t>
            </a:r>
            <a:br>
              <a:rPr lang="ru-RU" sz="1400">
                <a:solidFill>
                  <a:schemeClr val="bg1"/>
                </a:solidFill>
              </a:rPr>
            </a:br>
            <a:r>
              <a:rPr lang="en-US" sz="1400">
                <a:solidFill>
                  <a:schemeClr val="bg1"/>
                </a:solidFill>
              </a:rPr>
              <a:t>layers.Dense(dense_units, activation="relu") → </a:t>
            </a:r>
            <a:r>
              <a:rPr lang="ru-RU" sz="1400">
                <a:solidFill>
                  <a:schemeClr val="bg1"/>
                </a:solidFill>
              </a:rPr>
              <a:t>активация </a:t>
            </a:r>
            <a:r>
              <a:rPr lang="en-US" sz="1400">
                <a:solidFill>
                  <a:schemeClr val="bg1"/>
                </a:solidFill>
              </a:rPr>
              <a:t>ReLU </a:t>
            </a:r>
            <a:r>
              <a:rPr lang="ru-RU" sz="1400">
                <a:solidFill>
                  <a:schemeClr val="bg1"/>
                </a:solidFill>
              </a:rPr>
              <a:t>на </a:t>
            </a:r>
            <a:r>
              <a:rPr lang="en-US" sz="1400">
                <a:solidFill>
                  <a:schemeClr val="bg1"/>
                </a:solidFill>
              </a:rPr>
              <a:t>Dense‑</a:t>
            </a:r>
            <a:r>
              <a:rPr lang="ru-RU" sz="1400">
                <a:solidFill>
                  <a:schemeClr val="bg1"/>
                </a:solidFill>
              </a:rPr>
              <a:t>слое. Такая связка (</a:t>
            </a:r>
            <a:r>
              <a:rPr lang="en-US" sz="1400">
                <a:solidFill>
                  <a:schemeClr val="bg1"/>
                </a:solidFill>
              </a:rPr>
              <a:t>LSTM + ReLU‑Dense) </a:t>
            </a:r>
            <a:r>
              <a:rPr lang="ru-RU" sz="1400">
                <a:solidFill>
                  <a:schemeClr val="bg1"/>
                </a:solidFill>
              </a:rPr>
              <a:t>типична для регрессионных задач по временным рядам.​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Выходной слой:</a:t>
            </a:r>
            <a:br>
              <a:rPr lang="ru-RU" sz="1400">
                <a:solidFill>
                  <a:schemeClr val="bg1"/>
                </a:solidFill>
              </a:rPr>
            </a:br>
            <a:r>
              <a:rPr lang="en-US" sz="1400">
                <a:solidFill>
                  <a:schemeClr val="bg1"/>
                </a:solidFill>
              </a:rPr>
              <a:t>layers.Dense(1) </a:t>
            </a:r>
            <a:r>
              <a:rPr lang="ru-RU" sz="1400">
                <a:solidFill>
                  <a:schemeClr val="bg1"/>
                </a:solidFill>
              </a:rPr>
              <a:t>без активации → линейная активация, что корректно для непрерывного числового прогноза (</a:t>
            </a:r>
            <a:r>
              <a:rPr lang="en-US" sz="1400">
                <a:solidFill>
                  <a:schemeClr val="bg1"/>
                </a:solidFill>
              </a:rPr>
              <a:t>Sunspot Number).​</a:t>
            </a:r>
          </a:p>
          <a:p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F0730A-9EE7-510D-1F1E-7B061DC78C54}"/>
              </a:ext>
            </a:extLst>
          </p:cNvPr>
          <p:cNvSpPr txBox="1"/>
          <p:nvPr/>
        </p:nvSpPr>
        <p:spPr>
          <a:xfrm>
            <a:off x="599091" y="4687614"/>
            <a:ext cx="640776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>
                <a:solidFill>
                  <a:schemeClr val="bg1"/>
                </a:solidFill>
              </a:rPr>
              <a:t>Алгоритм оптимизации</a:t>
            </a:r>
          </a:p>
          <a:p>
            <a:r>
              <a:rPr lang="ru-RU" sz="1400">
                <a:solidFill>
                  <a:schemeClr val="bg1"/>
                </a:solidFill>
              </a:rPr>
              <a:t>Используется оптимизатор </a:t>
            </a:r>
            <a:r>
              <a:rPr lang="en-US" sz="1400">
                <a:solidFill>
                  <a:schemeClr val="bg1"/>
                </a:solidFill>
              </a:rPr>
              <a:t>Adam:</a:t>
            </a:r>
          </a:p>
          <a:p>
            <a:r>
              <a:rPr lang="en-US" sz="1400">
                <a:solidFill>
                  <a:schemeClr val="bg1"/>
                </a:solidFill>
              </a:rPr>
              <a:t>python</a:t>
            </a:r>
          </a:p>
          <a:p>
            <a:r>
              <a:rPr lang="en-US" sz="1400">
                <a:solidFill>
                  <a:schemeClr val="bg1"/>
                </a:solidFill>
              </a:rPr>
              <a:t>optimizer = keras.optimizers.Adam(learning_rate=learning_rate)</a:t>
            </a:r>
          </a:p>
          <a:p>
            <a:pPr lvl="1"/>
            <a:r>
              <a:rPr lang="ru-RU" sz="1400">
                <a:solidFill>
                  <a:schemeClr val="bg1"/>
                </a:solidFill>
              </a:rPr>
              <a:t>начальный шаг обучения (</a:t>
            </a:r>
            <a:r>
              <a:rPr lang="en-US" sz="1400">
                <a:solidFill>
                  <a:schemeClr val="bg1"/>
                </a:solidFill>
              </a:rPr>
              <a:t>learning_rate) </a:t>
            </a:r>
            <a:r>
              <a:rPr lang="ru-RU" sz="1400">
                <a:solidFill>
                  <a:schemeClr val="bg1"/>
                </a:solidFill>
              </a:rPr>
              <a:t>задан как 1</a:t>
            </a:r>
            <a:r>
              <a:rPr lang="en-US" sz="1400">
                <a:solidFill>
                  <a:schemeClr val="bg1"/>
                </a:solidFill>
              </a:rPr>
              <a:t>e-3.</a:t>
            </a:r>
            <a:br>
              <a:rPr lang="en-US" sz="1400">
                <a:solidFill>
                  <a:schemeClr val="bg1"/>
                </a:solidFill>
              </a:rPr>
            </a:br>
            <a:r>
              <a:rPr lang="en-US" sz="1400">
                <a:solidFill>
                  <a:schemeClr val="bg1"/>
                </a:solidFill>
              </a:rPr>
              <a:t>Adam — </a:t>
            </a:r>
            <a:r>
              <a:rPr lang="ru-RU" sz="1400">
                <a:solidFill>
                  <a:schemeClr val="bg1"/>
                </a:solidFill>
              </a:rPr>
              <a:t>стандартный выбор для обучения </a:t>
            </a:r>
            <a:r>
              <a:rPr lang="en-US" sz="1400">
                <a:solidFill>
                  <a:schemeClr val="bg1"/>
                </a:solidFill>
              </a:rPr>
              <a:t>LSTM‑</a:t>
            </a:r>
            <a:r>
              <a:rPr lang="ru-RU" sz="1400">
                <a:solidFill>
                  <a:schemeClr val="bg1"/>
                </a:solidFill>
              </a:rPr>
              <a:t>сетей по временным рядам, поскольку хорошо справляется с нестационарными градиентами.</a:t>
            </a:r>
          </a:p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91203-1B6A-F37C-12B3-597157321987}"/>
              </a:ext>
            </a:extLst>
          </p:cNvPr>
          <p:cNvSpPr txBox="1"/>
          <p:nvPr/>
        </p:nvSpPr>
        <p:spPr>
          <a:xfrm>
            <a:off x="7122472" y="1849821"/>
            <a:ext cx="506598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>
                <a:solidFill>
                  <a:schemeClr val="bg1"/>
                </a:solidFill>
              </a:rPr>
              <a:t>Функция потерь и метрики</a:t>
            </a:r>
          </a:p>
          <a:p>
            <a:r>
              <a:rPr lang="ru-RU" sz="1400">
                <a:solidFill>
                  <a:schemeClr val="bg1"/>
                </a:solidFill>
              </a:rPr>
              <a:t>Функция потерь:</a:t>
            </a:r>
          </a:p>
          <a:p>
            <a:r>
              <a:rPr lang="en-US" sz="1400">
                <a:solidFill>
                  <a:schemeClr val="bg1"/>
                </a:solidFill>
              </a:rPr>
              <a:t>python</a:t>
            </a:r>
          </a:p>
          <a:p>
            <a:r>
              <a:rPr lang="en-US" sz="1400">
                <a:solidFill>
                  <a:schemeClr val="bg1"/>
                </a:solidFill>
              </a:rPr>
              <a:t>loss="mse"</a:t>
            </a:r>
          </a:p>
          <a:p>
            <a:r>
              <a:rPr lang="ru-RU" sz="1400">
                <a:solidFill>
                  <a:schemeClr val="bg1"/>
                </a:solidFill>
              </a:rPr>
              <a:t>то есть </a:t>
            </a:r>
            <a:r>
              <a:rPr lang="en-US" sz="1400">
                <a:solidFill>
                  <a:schemeClr val="bg1"/>
                </a:solidFill>
              </a:rPr>
              <a:t>Mean Squared Error (MSE) — </a:t>
            </a:r>
            <a:r>
              <a:rPr lang="ru-RU" sz="1400">
                <a:solidFill>
                  <a:schemeClr val="bg1"/>
                </a:solidFill>
              </a:rPr>
              <a:t>среднеквадратичная ошибка, классический критерий для регрессии и прогнозирования временных рядов.​</a:t>
            </a:r>
          </a:p>
          <a:p>
            <a:r>
              <a:rPr lang="ru-RU" sz="1400">
                <a:solidFill>
                  <a:schemeClr val="bg1"/>
                </a:solidFill>
              </a:rPr>
              <a:t>Оцениваемая метрика:</a:t>
            </a:r>
          </a:p>
          <a:p>
            <a:r>
              <a:rPr lang="en-US" sz="1400">
                <a:solidFill>
                  <a:schemeClr val="bg1"/>
                </a:solidFill>
              </a:rPr>
              <a:t>python</a:t>
            </a:r>
          </a:p>
          <a:p>
            <a:r>
              <a:rPr lang="en-US" sz="1400">
                <a:solidFill>
                  <a:schemeClr val="bg1"/>
                </a:solidFill>
              </a:rPr>
              <a:t>metrics=[keras.metrics.RootMeanSquaredError()]</a:t>
            </a:r>
          </a:p>
          <a:p>
            <a:r>
              <a:rPr lang="ru-RU" sz="1400">
                <a:solidFill>
                  <a:schemeClr val="bg1"/>
                </a:solidFill>
              </a:rPr>
              <a:t>то есть </a:t>
            </a:r>
            <a:r>
              <a:rPr lang="en-US" sz="1400">
                <a:solidFill>
                  <a:schemeClr val="bg1"/>
                </a:solidFill>
              </a:rPr>
              <a:t>RMSE (</a:t>
            </a:r>
            <a:r>
              <a:rPr lang="ru-RU" sz="1400">
                <a:solidFill>
                  <a:schemeClr val="bg1"/>
                </a:solidFill>
              </a:rPr>
              <a:t>квадратичный корень из </a:t>
            </a:r>
            <a:r>
              <a:rPr lang="en-US" sz="1400">
                <a:solidFill>
                  <a:schemeClr val="bg1"/>
                </a:solidFill>
              </a:rPr>
              <a:t>MSE), </a:t>
            </a:r>
            <a:r>
              <a:rPr lang="ru-RU" sz="1400">
                <a:solidFill>
                  <a:schemeClr val="bg1"/>
                </a:solidFill>
              </a:rPr>
              <a:t>более интерпретируемый в исходных единицах </a:t>
            </a:r>
            <a:r>
              <a:rPr lang="en-US" sz="1400">
                <a:solidFill>
                  <a:schemeClr val="bg1"/>
                </a:solidFill>
              </a:rPr>
              <a:t>Sunspot Number</a:t>
            </a:r>
          </a:p>
          <a:p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5508A04-44B8-DE0A-6350-312D0572EDCD}"/>
              </a:ext>
            </a:extLst>
          </p:cNvPr>
          <p:cNvSpPr/>
          <p:nvPr/>
        </p:nvSpPr>
        <p:spPr>
          <a:xfrm>
            <a:off x="6831724" y="1355834"/>
            <a:ext cx="45719" cy="5502166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55BE473-3CBA-3E65-3E79-AB52851E053C}"/>
              </a:ext>
            </a:extLst>
          </p:cNvPr>
          <p:cNvSpPr/>
          <p:nvPr/>
        </p:nvSpPr>
        <p:spPr>
          <a:xfrm flipH="1">
            <a:off x="-2" y="4564390"/>
            <a:ext cx="6831723" cy="45719"/>
          </a:xfrm>
          <a:prstGeom prst="rect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8617988-261C-CC95-8CD5-5BF6544F6A96}"/>
              </a:ext>
            </a:extLst>
          </p:cNvPr>
          <p:cNvSpPr/>
          <p:nvPr/>
        </p:nvSpPr>
        <p:spPr>
          <a:xfrm>
            <a:off x="599091" y="5202621"/>
            <a:ext cx="5139559" cy="483476"/>
          </a:xfrm>
          <a:prstGeom prst="round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3853277B-D237-8050-ABF3-D7752074839E}"/>
              </a:ext>
            </a:extLst>
          </p:cNvPr>
          <p:cNvSpPr/>
          <p:nvPr/>
        </p:nvSpPr>
        <p:spPr>
          <a:xfrm>
            <a:off x="7164515" y="2349062"/>
            <a:ext cx="1180700" cy="430924"/>
          </a:xfrm>
          <a:prstGeom prst="round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4DE1F2A-0E6E-88B5-C2F9-61E1269007F0}"/>
              </a:ext>
            </a:extLst>
          </p:cNvPr>
          <p:cNvSpPr/>
          <p:nvPr/>
        </p:nvSpPr>
        <p:spPr>
          <a:xfrm>
            <a:off x="7122473" y="3594539"/>
            <a:ext cx="4165638" cy="483476"/>
          </a:xfrm>
          <a:prstGeom prst="round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395E76-8085-196A-6979-69134CF550E9}"/>
              </a:ext>
            </a:extLst>
          </p:cNvPr>
          <p:cNvSpPr txBox="1"/>
          <p:nvPr/>
        </p:nvSpPr>
        <p:spPr>
          <a:xfrm>
            <a:off x="599091" y="524837"/>
            <a:ext cx="88076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>
                <a:solidFill>
                  <a:schemeClr val="bg1"/>
                </a:solidFill>
              </a:rPr>
              <a:t>Описание гиперпараметров </a:t>
            </a:r>
          </a:p>
        </p:txBody>
      </p:sp>
      <p:pic>
        <p:nvPicPr>
          <p:cNvPr id="13" name="Picture 4" descr="Picture background">
            <a:extLst>
              <a:ext uri="{FF2B5EF4-FFF2-40B4-BE49-F238E27FC236}">
                <a16:creationId xmlns:a16="http://schemas.microsoft.com/office/drawing/2014/main" id="{5DCBDFAE-77D3-9448-7C18-C903FBF40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472" y="6333163"/>
            <a:ext cx="415153" cy="415153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Picture background">
            <a:extLst>
              <a:ext uri="{FF2B5EF4-FFF2-40B4-BE49-F238E27FC236}">
                <a16:creationId xmlns:a16="http://schemas.microsoft.com/office/drawing/2014/main" id="{1368CD5C-9AC7-3BBF-E9AA-CCFCF7EC7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727" y="1355834"/>
            <a:ext cx="415153" cy="415153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Picture background">
            <a:extLst>
              <a:ext uri="{FF2B5EF4-FFF2-40B4-BE49-F238E27FC236}">
                <a16:creationId xmlns:a16="http://schemas.microsoft.com/office/drawing/2014/main" id="{30E28127-D8DA-1BAA-DDE0-C17DFBB18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" y="5763602"/>
            <a:ext cx="337931" cy="337931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38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C126DBA-D242-67A4-9B03-9BBB3230900C}"/>
              </a:ext>
            </a:extLst>
          </p:cNvPr>
          <p:cNvSpPr txBox="1"/>
          <p:nvPr/>
        </p:nvSpPr>
        <p:spPr>
          <a:xfrm>
            <a:off x="877614" y="472230"/>
            <a:ext cx="93699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b="1">
                <a:solidFill>
                  <a:schemeClr val="bg1"/>
                </a:solidFill>
              </a:rPr>
              <a:t>Описание гиперпараметров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10D3D-E157-352A-FFC6-B0A532FB714F}"/>
              </a:ext>
            </a:extLst>
          </p:cNvPr>
          <p:cNvSpPr txBox="1"/>
          <p:nvPr/>
        </p:nvSpPr>
        <p:spPr>
          <a:xfrm>
            <a:off x="614855" y="1689611"/>
            <a:ext cx="74676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>
                <a:solidFill>
                  <a:schemeClr val="bg1"/>
                </a:solidFill>
              </a:rPr>
              <a:t>Параметры обучения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Количество эпох: epochs=10 — сеть делает 10 полных проходов по обучающему набору, что видно на графике «Динамика функции потерь по эпохам».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Размер батча: batch_size=32 — градиенты обновляются после каждого мини‑батча из 32 временных окон. Типичное значение для LSTM‑моделей по временным рядам.​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Длина окна (window_size): 24 — каждая обучающая выборка содержит 24 последовательных месяца (2 года данных), на основе которых предсказывается следующий месяц.​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Горизонт прогноза (horizon): 1 — модель делает прогноз на 1 месяц вперёд.</a:t>
            </a:r>
          </a:p>
          <a:p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752F01-7505-1918-9CFB-B0B256B3B29E}"/>
              </a:ext>
            </a:extLst>
          </p:cNvPr>
          <p:cNvSpPr txBox="1"/>
          <p:nvPr/>
        </p:nvSpPr>
        <p:spPr>
          <a:xfrm>
            <a:off x="727841" y="4118789"/>
            <a:ext cx="746759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>
                <a:solidFill>
                  <a:schemeClr val="bg1"/>
                </a:solidFill>
              </a:rPr>
              <a:t>Регуляризация и архитектурные гиперпараметры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Число нейронов в LSTM‑слое: rnn_units=64 — баланс между выразительностью сети и риском переобучения.​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Число LSTM‑слоёв: rnn_layers=1 — однослайная LSTM (без стекинга), что при небольшом объёме данных исторических солнечных пятен снижает риск переобучения.​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Число нейронов в Dense‑слое: dense_units=32.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Dropout: dropout=0.0 — отключён; при необходимости можно добавить, чтобы сильнее бороться с переобучением.</a:t>
            </a:r>
          </a:p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69E89B2-8E11-D6F4-E6A8-85F8E04F4CD7}"/>
              </a:ext>
            </a:extLst>
          </p:cNvPr>
          <p:cNvSpPr/>
          <p:nvPr/>
        </p:nvSpPr>
        <p:spPr>
          <a:xfrm flipH="1" flipV="1">
            <a:off x="-1" y="3926937"/>
            <a:ext cx="8082455" cy="45719"/>
          </a:xfrm>
          <a:prstGeom prst="rect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Picture 4" descr="Picture background">
            <a:extLst>
              <a:ext uri="{FF2B5EF4-FFF2-40B4-BE49-F238E27FC236}">
                <a16:creationId xmlns:a16="http://schemas.microsoft.com/office/drawing/2014/main" id="{C631B814-35F4-1F5F-F757-2115A216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440" y="1689611"/>
            <a:ext cx="415153" cy="415153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Picture background">
            <a:extLst>
              <a:ext uri="{FF2B5EF4-FFF2-40B4-BE49-F238E27FC236}">
                <a16:creationId xmlns:a16="http://schemas.microsoft.com/office/drawing/2014/main" id="{1B013069-6955-9A32-6229-B38F2300A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02" y="3881564"/>
            <a:ext cx="415153" cy="415153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Picture background">
            <a:extLst>
              <a:ext uri="{FF2B5EF4-FFF2-40B4-BE49-F238E27FC236}">
                <a16:creationId xmlns:a16="http://schemas.microsoft.com/office/drawing/2014/main" id="{D50677B0-8350-CC1B-1F38-CB71ADDC0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265" y="6073516"/>
            <a:ext cx="415153" cy="415153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22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CF1C2B-9BF4-D16E-8C43-F511A5F9D0A9}"/>
              </a:ext>
            </a:extLst>
          </p:cNvPr>
          <p:cNvSpPr txBox="1"/>
          <p:nvPr/>
        </p:nvSpPr>
        <p:spPr>
          <a:xfrm>
            <a:off x="1776249" y="2238703"/>
            <a:ext cx="7861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solidFill>
                  <a:schemeClr val="bg1"/>
                </a:solidFill>
              </a:rPr>
              <a:t>Для прогноза месячного числа солнечных пятен использована LSTM‑сеть Keras/TensorFlow с tanh‑активацией внутри LSTM‑блока, ReLU в скрытом Dense‑слое и линейным выходом; модель обучалась методом Adam (learning rate 0.001) в течение 10 эпох при размерe батча 32, с функцией потерь MSE и контрольной метрикой RMSE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32B708-6F5B-F82D-FFBD-6BF8C84BCBDD}"/>
              </a:ext>
            </a:extLst>
          </p:cNvPr>
          <p:cNvSpPr txBox="1"/>
          <p:nvPr/>
        </p:nvSpPr>
        <p:spPr>
          <a:xfrm>
            <a:off x="1776249" y="1050924"/>
            <a:ext cx="4761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>
                <a:solidFill>
                  <a:schemeClr val="bg1"/>
                </a:solidFill>
              </a:rPr>
              <a:t>Таким образом:</a:t>
            </a:r>
          </a:p>
        </p:txBody>
      </p:sp>
    </p:spTree>
    <p:extLst>
      <p:ext uri="{BB962C8B-B14F-4D97-AF65-F5344CB8AC3E}">
        <p14:creationId xmlns:p14="http://schemas.microsoft.com/office/powerpoint/2010/main" val="305687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B32DA8-943E-3EBA-A1F2-17E4F2DD3256}"/>
              </a:ext>
            </a:extLst>
          </p:cNvPr>
          <p:cNvSpPr txBox="1"/>
          <p:nvPr/>
        </p:nvSpPr>
        <p:spPr>
          <a:xfrm>
            <a:off x="924910" y="533191"/>
            <a:ext cx="5948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>
                <a:solidFill>
                  <a:schemeClr val="bg1"/>
                </a:solidFill>
              </a:rPr>
              <a:t>Описание датасета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70814F-35A5-6974-2950-C5F69B8F930E}"/>
              </a:ext>
            </a:extLst>
          </p:cNvPr>
          <p:cNvSpPr txBox="1"/>
          <p:nvPr/>
        </p:nvSpPr>
        <p:spPr>
          <a:xfrm>
            <a:off x="746233" y="1433438"/>
            <a:ext cx="66950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>
                <a:solidFill>
                  <a:schemeClr val="bg1"/>
                </a:solidFill>
              </a:rPr>
              <a:t>В работе использован открытый датасет monthly-sunspots с GitHub‑репозитория J. Brownlee, основанный на классическом ряде месячной солнечной активности.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6A2335-35F7-5C78-F05A-B5D7293B7A42}"/>
              </a:ext>
            </a:extLst>
          </p:cNvPr>
          <p:cNvSpPr txBox="1"/>
          <p:nvPr/>
        </p:nvSpPr>
        <p:spPr>
          <a:xfrm>
            <a:off x="746233" y="2316019"/>
            <a:ext cx="802990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>
                <a:solidFill>
                  <a:schemeClr val="bg1"/>
                </a:solidFill>
              </a:rPr>
              <a:t>Структура и объём данных</a:t>
            </a:r>
          </a:p>
          <a:p>
            <a:r>
              <a:rPr lang="ru-RU" sz="1400">
                <a:solidFill>
                  <a:schemeClr val="bg1"/>
                </a:solidFill>
              </a:rPr>
              <a:t>Датасет представляет собой одномерный временной ряд, где каждая запись соответствует одному календарному месяцу.​</a:t>
            </a:r>
          </a:p>
          <a:p>
            <a:r>
              <a:rPr lang="ru-RU" sz="1400">
                <a:solidFill>
                  <a:schemeClr val="bg1"/>
                </a:solidFill>
              </a:rPr>
              <a:t>Основные поля: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Month — календарный месяц в формате YYYY-MM;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Sunspots (переименовано в коде в SunspotNumber) — среднее за месяц общее число солнечных пятен (Monthly Mean Total Sunspot Number).​</a:t>
            </a:r>
          </a:p>
          <a:p>
            <a:r>
              <a:rPr lang="ru-RU" sz="1400">
                <a:solidFill>
                  <a:schemeClr val="bg1"/>
                </a:solidFill>
              </a:rPr>
              <a:t>Период наблюдений: с января 1749 года до конца 2018 года (в зависимости от версии файла — примерно 3250–3255 месяцев непрерывных наблюдений).​</a:t>
            </a:r>
          </a:p>
          <a:p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2841FC-E329-1868-7355-DE13A40D0FE0}"/>
              </a:ext>
            </a:extLst>
          </p:cNvPr>
          <p:cNvSpPr txBox="1"/>
          <p:nvPr/>
        </p:nvSpPr>
        <p:spPr>
          <a:xfrm>
            <a:off x="783018" y="4685899"/>
            <a:ext cx="82716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>
                <a:solidFill>
                  <a:schemeClr val="bg1"/>
                </a:solidFill>
              </a:rPr>
              <a:t>Источник и назначение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Данные восходят к международному индексу солнечных пятен, поддерживаемому специализированными службами (напр., SILSO/NOAA), и широко используются в исследованиях солнечного цикла и космической погоды.​​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>
                <a:solidFill>
                  <a:schemeClr val="bg1"/>
                </a:solidFill>
              </a:rPr>
              <a:t>В данном проекте ряд используется как база для задач прогнозирования: по историческим значениям Sunspot Number модель оценивает будущую солнечную активность, что позволяет исследовать предсказуемость 11‑летних циклов и качество различных архитектур RNN.​</a:t>
            </a:r>
          </a:p>
          <a:p>
            <a:endParaRPr lang="ru-RU"/>
          </a:p>
        </p:txBody>
      </p:sp>
      <p:pic>
        <p:nvPicPr>
          <p:cNvPr id="6" name="Picture 4" descr="Picture background">
            <a:extLst>
              <a:ext uri="{FF2B5EF4-FFF2-40B4-BE49-F238E27FC236}">
                <a16:creationId xmlns:a16="http://schemas.microsoft.com/office/drawing/2014/main" id="{907E23BA-E04B-C41E-9887-48159533C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324" y="1966943"/>
            <a:ext cx="415153" cy="415153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Picture background">
            <a:extLst>
              <a:ext uri="{FF2B5EF4-FFF2-40B4-BE49-F238E27FC236}">
                <a16:creationId xmlns:a16="http://schemas.microsoft.com/office/drawing/2014/main" id="{7FCF4080-CFF3-4BA4-0A5B-67337DDC8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56" y="6117232"/>
            <a:ext cx="315099" cy="315099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 descr="Бумага контур">
            <a:extLst>
              <a:ext uri="{FF2B5EF4-FFF2-40B4-BE49-F238E27FC236}">
                <a16:creationId xmlns:a16="http://schemas.microsoft.com/office/drawing/2014/main" id="{8651B947-D75E-EB73-8EB6-F079F1F5C2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8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27E532-A008-5E78-E442-50669DA64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21" y="386806"/>
            <a:ext cx="9689065" cy="317508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линия, снимок экран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B974DE-3A83-A6E2-98F1-82B1E85A9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01" y="3663471"/>
            <a:ext cx="9784485" cy="3089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80449F-4278-2131-24B9-A8911B901D05}"/>
              </a:ext>
            </a:extLst>
          </p:cNvPr>
          <p:cNvSpPr txBox="1"/>
          <p:nvPr/>
        </p:nvSpPr>
        <p:spPr>
          <a:xfrm>
            <a:off x="10951779" y="578069"/>
            <a:ext cx="9121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b="1">
                <a:solidFill>
                  <a:schemeClr val="bg1"/>
                </a:solidFill>
              </a:rPr>
              <a:t>Д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Е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М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О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Н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С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Т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Р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А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Ц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И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Я</a:t>
            </a:r>
          </a:p>
          <a:p>
            <a:endParaRPr lang="ru-RU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74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, График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64E1BA6-3DFD-4ADB-E317-B3CA4F01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72" y="225852"/>
            <a:ext cx="6380930" cy="3180807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DB73C9A-3BBE-60A6-DEAD-91232CC6E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72" y="3429000"/>
            <a:ext cx="7985405" cy="3203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CD21DB-6128-EEC1-C43F-B58C8941B0BD}"/>
              </a:ext>
            </a:extLst>
          </p:cNvPr>
          <p:cNvSpPr txBox="1"/>
          <p:nvPr/>
        </p:nvSpPr>
        <p:spPr>
          <a:xfrm>
            <a:off x="10951779" y="578069"/>
            <a:ext cx="9121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b="1">
                <a:solidFill>
                  <a:schemeClr val="bg1"/>
                </a:solidFill>
              </a:rPr>
              <a:t>Д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Е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М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О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Н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С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Т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Р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А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Ц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И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Я</a:t>
            </a:r>
          </a:p>
          <a:p>
            <a:endParaRPr lang="ru-RU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99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График, диаграмм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1D9887F-0125-ECE7-E16A-E518CFCFD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2" y="666364"/>
            <a:ext cx="8167607" cy="39476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5BC19E-6C1A-8720-D9F9-FB302CE56D4F}"/>
              </a:ext>
            </a:extLst>
          </p:cNvPr>
          <p:cNvSpPr txBox="1"/>
          <p:nvPr/>
        </p:nvSpPr>
        <p:spPr>
          <a:xfrm>
            <a:off x="10951779" y="578069"/>
            <a:ext cx="9121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b="1">
                <a:solidFill>
                  <a:schemeClr val="bg1"/>
                </a:solidFill>
              </a:rPr>
              <a:t>Д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Е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М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О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Н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С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Т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Р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А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Ц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И</a:t>
            </a:r>
          </a:p>
          <a:p>
            <a:pPr algn="just"/>
            <a:r>
              <a:rPr lang="ru-RU" sz="3200" b="1">
                <a:solidFill>
                  <a:schemeClr val="bg1"/>
                </a:solidFill>
              </a:rPr>
              <a:t>Я</a:t>
            </a:r>
          </a:p>
          <a:p>
            <a:endParaRPr lang="ru-RU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8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5F52CE-AF24-F203-E060-C13F3B4E6E80}"/>
              </a:ext>
            </a:extLst>
          </p:cNvPr>
          <p:cNvSpPr txBox="1"/>
          <p:nvPr/>
        </p:nvSpPr>
        <p:spPr>
          <a:xfrm>
            <a:off x="851336" y="409904"/>
            <a:ext cx="80088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>
                <a:solidFill>
                  <a:schemeClr val="bg1"/>
                </a:solidFill>
              </a:rPr>
              <a:t>Перечень 5 алгоритмов, реализованных в НС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DBA73-579F-41EC-8C38-CF995853E945}"/>
              </a:ext>
            </a:extLst>
          </p:cNvPr>
          <p:cNvSpPr txBox="1"/>
          <p:nvPr/>
        </p:nvSpPr>
        <p:spPr>
          <a:xfrm>
            <a:off x="1114097" y="2280745"/>
            <a:ext cx="83031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vanilla_rnn – </a:t>
            </a:r>
            <a:r>
              <a:rPr lang="ru-RU">
                <a:solidFill>
                  <a:schemeClr val="bg1"/>
                </a:solidFill>
              </a:rPr>
              <a:t>простая рекуррентная сеть на базе </a:t>
            </a:r>
            <a:r>
              <a:rPr lang="en-US">
                <a:solidFill>
                  <a:schemeClr val="bg1"/>
                </a:solidFill>
              </a:rPr>
              <a:t>layers.SimpleRNN: </a:t>
            </a:r>
            <a:r>
              <a:rPr lang="ru-RU">
                <a:solidFill>
                  <a:schemeClr val="bg1"/>
                </a:solidFill>
              </a:rPr>
              <a:t>один или несколько слоёв </a:t>
            </a:r>
            <a:r>
              <a:rPr lang="en-US">
                <a:solidFill>
                  <a:schemeClr val="bg1"/>
                </a:solidFill>
              </a:rPr>
              <a:t>SimpleRNN </a:t>
            </a:r>
            <a:r>
              <a:rPr lang="ru-RU">
                <a:solidFill>
                  <a:schemeClr val="bg1"/>
                </a:solidFill>
              </a:rPr>
              <a:t>с линейным выходом для регрессии.​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lstm – </a:t>
            </a:r>
            <a:r>
              <a:rPr lang="ru-RU">
                <a:solidFill>
                  <a:schemeClr val="bg1"/>
                </a:solidFill>
              </a:rPr>
              <a:t>классический </a:t>
            </a:r>
            <a:r>
              <a:rPr lang="en-US">
                <a:solidFill>
                  <a:schemeClr val="bg1"/>
                </a:solidFill>
              </a:rPr>
              <a:t>LSTM‑</a:t>
            </a:r>
            <a:r>
              <a:rPr lang="ru-RU">
                <a:solidFill>
                  <a:schemeClr val="bg1"/>
                </a:solidFill>
              </a:rPr>
              <a:t>алгоритм (</a:t>
            </a:r>
            <a:r>
              <a:rPr lang="en-US">
                <a:solidFill>
                  <a:schemeClr val="bg1"/>
                </a:solidFill>
              </a:rPr>
              <a:t>layers.LSTM): </a:t>
            </a:r>
            <a:r>
              <a:rPr lang="ru-RU">
                <a:solidFill>
                  <a:schemeClr val="bg1"/>
                </a:solidFill>
              </a:rPr>
              <a:t>один или несколько </a:t>
            </a:r>
            <a:r>
              <a:rPr lang="en-US">
                <a:solidFill>
                  <a:schemeClr val="bg1"/>
                </a:solidFill>
              </a:rPr>
              <a:t>LSTM‑</a:t>
            </a:r>
            <a:r>
              <a:rPr lang="ru-RU">
                <a:solidFill>
                  <a:schemeClr val="bg1"/>
                </a:solidFill>
              </a:rPr>
              <a:t>слоёв (в твоих запусках – 1 слой на 64 нейрона) + полносвязный блок для прогноза </a:t>
            </a:r>
            <a:r>
              <a:rPr lang="en-US">
                <a:solidFill>
                  <a:schemeClr val="bg1"/>
                </a:solidFill>
              </a:rPr>
              <a:t>Sunspot Number.​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gru – </a:t>
            </a:r>
            <a:r>
              <a:rPr lang="ru-RU">
                <a:solidFill>
                  <a:schemeClr val="bg1"/>
                </a:solidFill>
              </a:rPr>
              <a:t>сеть на основе </a:t>
            </a:r>
            <a:r>
              <a:rPr lang="en-US">
                <a:solidFill>
                  <a:schemeClr val="bg1"/>
                </a:solidFill>
              </a:rPr>
              <a:t>GRU‑</a:t>
            </a:r>
            <a:r>
              <a:rPr lang="ru-RU">
                <a:solidFill>
                  <a:schemeClr val="bg1"/>
                </a:solidFill>
              </a:rPr>
              <a:t>ячеек (</a:t>
            </a:r>
            <a:r>
              <a:rPr lang="en-US">
                <a:solidFill>
                  <a:schemeClr val="bg1"/>
                </a:solidFill>
              </a:rPr>
              <a:t>layers.GRU): </a:t>
            </a:r>
            <a:r>
              <a:rPr lang="ru-RU">
                <a:solidFill>
                  <a:schemeClr val="bg1"/>
                </a:solidFill>
              </a:rPr>
              <a:t>упрощённый вариант </a:t>
            </a:r>
            <a:r>
              <a:rPr lang="en-US">
                <a:solidFill>
                  <a:schemeClr val="bg1"/>
                </a:solidFill>
              </a:rPr>
              <a:t>LSTM, </a:t>
            </a:r>
            <a:r>
              <a:rPr lang="ru-RU">
                <a:solidFill>
                  <a:schemeClr val="bg1"/>
                </a:solidFill>
              </a:rPr>
              <a:t>использующий механизм </a:t>
            </a:r>
            <a:r>
              <a:rPr lang="en-US">
                <a:solidFill>
                  <a:schemeClr val="bg1"/>
                </a:solidFill>
              </a:rPr>
              <a:t>Gated Recurrent Unit </a:t>
            </a:r>
            <a:r>
              <a:rPr lang="ru-RU">
                <a:solidFill>
                  <a:schemeClr val="bg1"/>
                </a:solidFill>
              </a:rPr>
              <a:t>для моделирования временных зависимостей.​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cnn_lstm – </a:t>
            </a:r>
            <a:r>
              <a:rPr lang="ru-RU">
                <a:solidFill>
                  <a:schemeClr val="bg1"/>
                </a:solidFill>
              </a:rPr>
              <a:t>гибридная архитектура </a:t>
            </a:r>
            <a:r>
              <a:rPr lang="en-US">
                <a:solidFill>
                  <a:schemeClr val="bg1"/>
                </a:solidFill>
              </a:rPr>
              <a:t>CNN + LSTM: </a:t>
            </a:r>
            <a:r>
              <a:rPr lang="ru-RU">
                <a:solidFill>
                  <a:schemeClr val="bg1"/>
                </a:solidFill>
              </a:rPr>
              <a:t>сначала одномерная свёрточная сеть (</a:t>
            </a:r>
            <a:r>
              <a:rPr lang="en-US">
                <a:solidFill>
                  <a:schemeClr val="bg1"/>
                </a:solidFill>
              </a:rPr>
              <a:t>layers.Conv1D + MaxPooling1D) </a:t>
            </a:r>
            <a:r>
              <a:rPr lang="ru-RU">
                <a:solidFill>
                  <a:schemeClr val="bg1"/>
                </a:solidFill>
              </a:rPr>
              <a:t>извлекает локальные паттерны в окне, затем </a:t>
            </a:r>
            <a:r>
              <a:rPr lang="en-US">
                <a:solidFill>
                  <a:schemeClr val="bg1"/>
                </a:solidFill>
              </a:rPr>
              <a:t>LSTM‑</a:t>
            </a:r>
            <a:r>
              <a:rPr lang="ru-RU">
                <a:solidFill>
                  <a:schemeClr val="bg1"/>
                </a:solidFill>
              </a:rPr>
              <a:t>слой моделирует долгосрочную динамику.​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stacked_lstm – «</a:t>
            </a:r>
            <a:r>
              <a:rPr lang="ru-RU">
                <a:solidFill>
                  <a:schemeClr val="bg1"/>
                </a:solidFill>
              </a:rPr>
              <a:t>глубокий» </a:t>
            </a:r>
            <a:r>
              <a:rPr lang="en-US">
                <a:solidFill>
                  <a:schemeClr val="bg1"/>
                </a:solidFill>
              </a:rPr>
              <a:t>LSTM </a:t>
            </a:r>
            <a:r>
              <a:rPr lang="ru-RU">
                <a:solidFill>
                  <a:schemeClr val="bg1"/>
                </a:solidFill>
              </a:rPr>
              <a:t>с несколькими слоями: два последовательно расположенных </a:t>
            </a:r>
            <a:r>
              <a:rPr lang="en-US">
                <a:solidFill>
                  <a:schemeClr val="bg1"/>
                </a:solidFill>
              </a:rPr>
              <a:t>LSTM‑</a:t>
            </a:r>
            <a:r>
              <a:rPr lang="ru-RU">
                <a:solidFill>
                  <a:schemeClr val="bg1"/>
                </a:solidFill>
              </a:rPr>
              <a:t>слоя (</a:t>
            </a:r>
            <a:r>
              <a:rPr lang="en-US">
                <a:solidFill>
                  <a:schemeClr val="bg1"/>
                </a:solidFill>
              </a:rPr>
              <a:t>return_sequences=True </a:t>
            </a:r>
            <a:r>
              <a:rPr lang="ru-RU">
                <a:solidFill>
                  <a:schemeClr val="bg1"/>
                </a:solidFill>
              </a:rPr>
              <a:t>на первом), что позволяет моделировать более сложные временные зависимости.​</a:t>
            </a:r>
          </a:p>
          <a:p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53ACFE0-BE6B-E2BC-9196-D6F343DCC0C5}"/>
              </a:ext>
            </a:extLst>
          </p:cNvPr>
          <p:cNvSpPr/>
          <p:nvPr/>
        </p:nvSpPr>
        <p:spPr>
          <a:xfrm>
            <a:off x="1434661" y="2280645"/>
            <a:ext cx="1198180" cy="346841"/>
          </a:xfrm>
          <a:prstGeom prst="roundRect">
            <a:avLst/>
          </a:prstGeom>
          <a:solidFill>
            <a:schemeClr val="bg2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FECBA02-C574-C669-94BC-593CDAD3217F}"/>
              </a:ext>
            </a:extLst>
          </p:cNvPr>
          <p:cNvSpPr/>
          <p:nvPr/>
        </p:nvSpPr>
        <p:spPr>
          <a:xfrm>
            <a:off x="1434661" y="2821930"/>
            <a:ext cx="546538" cy="346841"/>
          </a:xfrm>
          <a:prstGeom prst="roundRect">
            <a:avLst/>
          </a:prstGeom>
          <a:solidFill>
            <a:schemeClr val="bg2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D55185A-3D9B-B043-A350-CA8176EF8BE8}"/>
              </a:ext>
            </a:extLst>
          </p:cNvPr>
          <p:cNvSpPr/>
          <p:nvPr/>
        </p:nvSpPr>
        <p:spPr>
          <a:xfrm>
            <a:off x="1434661" y="3699643"/>
            <a:ext cx="420414" cy="346841"/>
          </a:xfrm>
          <a:prstGeom prst="roundRect">
            <a:avLst/>
          </a:prstGeom>
          <a:solidFill>
            <a:schemeClr val="bg2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85D27CD-4A8E-9A48-0993-BEC79F19FC3B}"/>
              </a:ext>
            </a:extLst>
          </p:cNvPr>
          <p:cNvSpPr/>
          <p:nvPr/>
        </p:nvSpPr>
        <p:spPr>
          <a:xfrm>
            <a:off x="1434662" y="4461447"/>
            <a:ext cx="1040524" cy="346841"/>
          </a:xfrm>
          <a:prstGeom prst="roundRect">
            <a:avLst/>
          </a:prstGeom>
          <a:solidFill>
            <a:schemeClr val="bg2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FCB4554-7DC9-7176-C01E-A42158BD03A0}"/>
              </a:ext>
            </a:extLst>
          </p:cNvPr>
          <p:cNvSpPr/>
          <p:nvPr/>
        </p:nvSpPr>
        <p:spPr>
          <a:xfrm>
            <a:off x="1434661" y="5349573"/>
            <a:ext cx="1413641" cy="346841"/>
          </a:xfrm>
          <a:prstGeom prst="roundRect">
            <a:avLst/>
          </a:prstGeom>
          <a:solidFill>
            <a:schemeClr val="bg2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Picture 4" descr="Picture background">
            <a:extLst>
              <a:ext uri="{FF2B5EF4-FFF2-40B4-BE49-F238E27FC236}">
                <a16:creationId xmlns:a16="http://schemas.microsoft.com/office/drawing/2014/main" id="{A8A0BDE4-3B74-1159-D12A-C7ADC3D93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324" y="1564411"/>
            <a:ext cx="415153" cy="415153"/>
          </a:xfrm>
          <a:prstGeom prst="rect">
            <a:avLst/>
          </a:prstGeom>
          <a:noFill/>
          <a:effectLst>
            <a:glow rad="3048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425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23648D-8B3E-7B95-BF64-2064B46D8E85}"/>
              </a:ext>
            </a:extLst>
          </p:cNvPr>
          <p:cNvSpPr txBox="1"/>
          <p:nvPr/>
        </p:nvSpPr>
        <p:spPr>
          <a:xfrm>
            <a:off x="882868" y="503761"/>
            <a:ext cx="79668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>
                <a:solidFill>
                  <a:schemeClr val="bg1"/>
                </a:solidFill>
              </a:rPr>
              <a:t>Дальнейшая доработка НС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1F0222-EB61-6479-972F-351D53AD4809}"/>
              </a:ext>
            </a:extLst>
          </p:cNvPr>
          <p:cNvSpPr txBox="1"/>
          <p:nvPr/>
        </p:nvSpPr>
        <p:spPr>
          <a:xfrm>
            <a:off x="1040523" y="1576496"/>
            <a:ext cx="911247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>
                <a:solidFill>
                  <a:schemeClr val="bg1"/>
                </a:solidFill>
              </a:rPr>
              <a:t>Дальнейшая доработка нейросети может идти в нескольких направлениях: повышение точности прогноза, устойчивости и удобства использования.</a:t>
            </a:r>
          </a:p>
          <a:p>
            <a:endParaRPr lang="ru-RU">
              <a:solidFill>
                <a:schemeClr val="bg1"/>
              </a:solidFill>
            </a:endParaRPr>
          </a:p>
          <a:p>
            <a:r>
              <a:rPr lang="ru-RU" b="1">
                <a:solidFill>
                  <a:schemeClr val="bg1"/>
                </a:solidFill>
              </a:rPr>
              <a:t>Улучшение архитектуры и обучения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>
                <a:solidFill>
                  <a:schemeClr val="bg1"/>
                </a:solidFill>
              </a:rPr>
              <a:t>Попробовать более глубокие варианты stacked_lstm и cnn_lstm с регуляризацией: добавить dropout, recurrent_dropout, L2‑регуляризацию, чтобы уменьшить переобучение и улучшить обобщающую способность.​​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>
                <a:solidFill>
                  <a:schemeClr val="bg1"/>
                </a:solidFill>
              </a:rPr>
              <a:t>Провести систематический подбор гиперпараметров (число слоёв, нейронов, window_size, learning rate, batch_size) с помощью GridSearch/RandomSearch или библиотек авто‑тюнинга для RNN.​​​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>
                <a:solidFill>
                  <a:schemeClr val="bg1"/>
                </a:solidFill>
              </a:rPr>
              <a:t>Рассмотреть современные архитектуры для временных рядов (Temporal Convolutional Networks, attention‑модели, трансформеры), чтобы сравнить их с LSTM/GRU на задаче солнечных пятен.​​​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>
                <a:solidFill>
                  <a:schemeClr val="bg1"/>
                </a:solidFill>
              </a:rPr>
              <a:t>Доработать интерактивный интерфейс (Gradio или Streamlit): добавить выбор диапазона дат, сохранение обученных моделей, автоматическое сравнение RMSE между алгоритмами и вывод нескольких графиков прогноза.​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>
                <a:solidFill>
                  <a:schemeClr val="bg1"/>
                </a:solidFill>
              </a:rPr>
              <a:t>Реализовать периодическую переобучаемую модель: загружать новые данные по мере выхода наблюдений, дообучать сеть и обновлять прогноз следующего солнечного цикла, приближаясь к реальным системам космического мониторинга.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>
              <a:solidFill>
                <a:schemeClr val="bg1"/>
              </a:solidFill>
            </a:endParaRP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9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CB79D9-5DBE-327E-5423-CBF2B50F7244}"/>
              </a:ext>
            </a:extLst>
          </p:cNvPr>
          <p:cNvSpPr txBox="1"/>
          <p:nvPr/>
        </p:nvSpPr>
        <p:spPr>
          <a:xfrm>
            <a:off x="1681655" y="830317"/>
            <a:ext cx="8628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datastuctures/</a:t>
            </a:r>
            <a:r>
              <a:rPr lang="ru-RU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Герман_Виктория_Нугуманова_Алия_ПИ03.</a:t>
            </a:r>
            <a:r>
              <a:rPr lang="en-US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ipynb at main · vict-germ/datastuctures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4997AF-8E2A-334A-17A6-FAACF40A9168}"/>
              </a:ext>
            </a:extLst>
          </p:cNvPr>
          <p:cNvSpPr txBox="1"/>
          <p:nvPr/>
        </p:nvSpPr>
        <p:spPr>
          <a:xfrm>
            <a:off x="1765738" y="1986455"/>
            <a:ext cx="90283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https://github.com/vict-germ/datastuctures/blob/main/%D0%93%D0%B5%D1%80%D0%BC%D0%B0%D0%BD_%D0%92%D0%B8%D0%BA%D1%82%D0%BE%D1%80%D0%B8%D1%8F_%D0%9D%D1%83%D0%B3%D1%83%D0%BC%D0%B0%D0%BD%D0%BE%D0%B2%D0%B0_%D0%90%D0%BB%D0%B8%D1%8F_%D0%9F%D0%9803.ipynb</a:t>
            </a:r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0394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1517</Words>
  <Application>Microsoft Office PowerPoint</Application>
  <PresentationFormat>Широкоэкранный</PresentationFormat>
  <Paragraphs>125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Виктория Герман</dc:creator>
  <cp:lastModifiedBy>Виктория Герман</cp:lastModifiedBy>
  <cp:revision>4</cp:revision>
  <dcterms:created xsi:type="dcterms:W3CDTF">2025-12-15T12:04:32Z</dcterms:created>
  <dcterms:modified xsi:type="dcterms:W3CDTF">2025-12-15T19:26:38Z</dcterms:modified>
</cp:coreProperties>
</file>